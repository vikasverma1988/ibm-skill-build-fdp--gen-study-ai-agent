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5" r:id="rId5"/>
    <p:sldId id="278" r:id="rId6"/>
    <p:sldId id="279" r:id="rId7"/>
    <p:sldId id="262" r:id="rId8"/>
    <p:sldId id="264" r:id="rId9"/>
    <p:sldId id="277" r:id="rId10"/>
    <p:sldId id="286" r:id="rId11"/>
    <p:sldId id="287" r:id="rId12"/>
    <p:sldId id="280" r:id="rId13"/>
    <p:sldId id="288" r:id="rId14"/>
    <p:sldId id="289"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78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r>
              <a:t>StudyGen AI - Smart Study Generator &amp; Learning Companion</a:t>
            </a:r>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24028080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Vikas Verma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vikasverma1988@gmail.com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+91-8560892484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Education</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466107"/>
            <a:ext cx="9581177" cy="830997"/>
          </a:xfrm>
          <a:prstGeom prst="rect">
            <a:avLst/>
          </a:prstGeom>
          <a:noFill/>
        </p:spPr>
        <p:txBody>
          <a:bodyPr wrap="square" rtlCol="0">
            <a:spAutoFit/>
          </a:bodyPr>
          <a:lstStyle/>
          <a:p>
            <a:r>
              <a:rPr lang="en-US" sz="2400" b="1" dirty="0"/>
              <a:t>Project Tile – </a:t>
            </a:r>
            <a:r>
              <a:rPr lang="en-IN" sz="2400" b="1" dirty="0"/>
              <a:t>Smart Study Generator Agent</a:t>
            </a:r>
          </a:p>
          <a:p>
            <a:endParaRPr lang="en-IN" sz="2400" b="1" dirty="0">
              <a:highlight>
                <a:srgbClr val="FFFF00"/>
              </a:highlight>
            </a:endParaRPr>
          </a:p>
        </p:txBody>
      </p:sp>
      <p:pic>
        <p:nvPicPr>
          <p:cNvPr id="1028" name="Picture 4" descr="https://media.licdn.com/dms/image/v2/C5103AQFL-WSfTzHaWw/profile-displayphoto-shrink_100_100/profile-displayphoto-shrink_100_100/0/1561531920121?e=1784160000&amp;v=beta&amp;t=2s4w76ugmoBtAOqsAtXtHZqpL1kCYMITje8GjLEv4Zo">
            <a:extLst>
              <a:ext uri="{FF2B5EF4-FFF2-40B4-BE49-F238E27FC236}">
                <a16:creationId xmlns:a16="http://schemas.microsoft.com/office/drawing/2014/main" id="{865980B7-5569-4A45-9490-597438205F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8140" y="3672100"/>
            <a:ext cx="952500" cy="952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401205"/>
          </a:xfrm>
          <a:prstGeom prst="rect">
            <a:avLst/>
          </a:prstGeom>
          <a:noFill/>
        </p:spPr>
        <p:txBody>
          <a:bodyPr wrap="square" rtlCol="0">
            <a:spAutoFit/>
          </a:bodyPr>
          <a:lstStyle/>
          <a:p>
            <a:r>
              <a:rPr lang="en-IN" b="1" dirty="0"/>
              <a:t>Problem Statement No.13: Smart Study Generator Agent</a:t>
            </a:r>
            <a:endParaRPr lang="en-IN" dirty="0"/>
          </a:p>
          <a:p>
            <a:r>
              <a:rPr lang="en-IN" b="1" dirty="0"/>
              <a:t>The Challenge</a:t>
            </a:r>
            <a:endParaRPr lang="en-IN" dirty="0"/>
          </a:p>
          <a:p>
            <a:r>
              <a:rPr lang="en-IN" dirty="0"/>
              <a:t>Students today face an overwhelming flood of information—lecture notes, textbooks, research papers, YouTube tutorials, and online resources. This content is scattered, unorganized, and often not personalized to their learning pace or style. As a result, students struggle with finding the right study material, summarizing key concepts, and staying exam-ready. Traditional study tools only provide static notes or flashcards, failing to adapt dynamically to student needs. The challenge is to move beyond static resources toward an intelligent, adaptive study companion.</a:t>
            </a:r>
          </a:p>
          <a:p>
            <a:r>
              <a:rPr lang="en-IN" b="1" dirty="0"/>
              <a:t>The Objective</a:t>
            </a:r>
            <a:endParaRPr lang="en-IN" dirty="0"/>
          </a:p>
          <a:p>
            <a:r>
              <a:rPr lang="en-IN" dirty="0"/>
              <a:t>Build an agentic AI-powered Smart Study Generator that personalizes and streamlines learning for students. The solution should:</a:t>
            </a:r>
          </a:p>
          <a:p>
            <a:pPr lvl="0"/>
            <a:r>
              <a:rPr lang="en-IN" b="1" dirty="0"/>
              <a:t>Fuse Learning Resources: </a:t>
            </a:r>
            <a:r>
              <a:rPr lang="en-IN" dirty="0"/>
              <a:t>Aggregate content from class notes, textbooks, research articles, and online tutorials into structured, easy-to-digest study material.</a:t>
            </a:r>
          </a:p>
          <a:p>
            <a:pPr lvl="0"/>
            <a:r>
              <a:rPr lang="en-IN" b="1" dirty="0"/>
              <a:t>Enable Multimodal Input:</a:t>
            </a:r>
            <a:r>
              <a:rPr lang="en-IN" dirty="0"/>
              <a:t> Allow students to upload notes, voice queries, or images (e.g., textbook pages), and generate concise summaries, flashcards, or concept maps.</a:t>
            </a:r>
          </a:p>
          <a:p>
            <a:pPr lvl="0"/>
            <a:r>
              <a:rPr lang="en-IN" b="1" dirty="0"/>
              <a:t>Create a Predictive &amp; Agentic Layer:</a:t>
            </a:r>
            <a:r>
              <a:rPr lang="en-IN" dirty="0"/>
              <a:t> Recommend personalized study plans, highlight important topics based on syllabus or past exams, and provide predictive alerts (e.g., “Focus on Topic X—frequently asked in exams”).</a:t>
            </a:r>
          </a:p>
          <a:p>
            <a:pPr lvl="0"/>
            <a:r>
              <a:rPr lang="en-IN" b="1" dirty="0"/>
              <a:t>Visualize Study Progress:</a:t>
            </a:r>
            <a:r>
              <a:rPr lang="en-IN" dirty="0"/>
              <a:t> Offer a real-time dashboard showing learning milestones, weak areas, practice quizzes, and performance forecasts.</a:t>
            </a:r>
          </a:p>
          <a:p>
            <a:r>
              <a:rPr lang="en-IN" b="1" dirty="0"/>
              <a:t>Tech Stack (Mandatory)</a:t>
            </a:r>
            <a:endParaRPr lang="en-IN" dirty="0"/>
          </a:p>
          <a:p>
            <a:pPr lvl="0"/>
            <a:r>
              <a:rPr lang="en-IN" dirty="0"/>
              <a:t>IBM </a:t>
            </a:r>
            <a:r>
              <a:rPr lang="en-IN" dirty="0" err="1"/>
              <a:t>Langflow</a:t>
            </a:r>
            <a:r>
              <a:rPr lang="en-IN" dirty="0"/>
              <a:t> / IBM Orchestrate + IBM Models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667512" y="765703"/>
            <a:ext cx="11242548" cy="6555641"/>
          </a:xfrm>
          <a:prstGeom prst="rect">
            <a:avLst/>
          </a:prstGeom>
          <a:noFill/>
        </p:spPr>
        <p:txBody>
          <a:bodyPr wrap="square" rtlCol="0">
            <a:spAutoFit/>
          </a:bodyPr>
          <a:lstStyle/>
          <a:p>
            <a:pPr fontAlgn="base"/>
            <a:endParaRPr lang="en-US" b="1" dirty="0"/>
          </a:p>
          <a:p>
            <a:r>
              <a:rPr lang="en-US" b="1" dirty="0"/>
              <a:t>Proposed Solution: AI-Powered Educational Agent (</a:t>
            </a:r>
            <a:r>
              <a:rPr lang="en-US" b="1" dirty="0" err="1"/>
              <a:t>StudyGen</a:t>
            </a:r>
            <a:r>
              <a:rPr lang="en-US" b="1" dirty="0"/>
              <a:t> AI)</a:t>
            </a:r>
            <a:endParaRPr lang="en-US" dirty="0"/>
          </a:p>
          <a:p>
            <a:r>
              <a:rPr lang="en-US" dirty="0"/>
              <a:t>The proposed solution is a multi-agent AI-powered Educational Agent built using Flask, IBM watsonx.ai, and Granite Models to provide personalized, real-time learning guidance and study assistance. The system addresses challenges in study material organization, exam preparation, and personalized learning through an intelligent, modular architecture.</a:t>
            </a:r>
          </a:p>
          <a:p>
            <a:r>
              <a:rPr lang="en-US" dirty="0"/>
              <a:t>At its core, the solution uses a Master Orchestrator Agent to coordinate five specialized autonomous agents that process educational content and generate comprehensive learning strategies. Each agent leverages IBM Granite Models for natural language understanding, context-aware content generation, and intelligent decision-making, enabling the system to transform raw study materials into structured, actionable learning resources.</a:t>
            </a:r>
          </a:p>
          <a:p>
            <a:r>
              <a:rPr lang="en-US" dirty="0"/>
              <a:t>The system consists of five key agents:</a:t>
            </a:r>
          </a:p>
          <a:p>
            <a:r>
              <a:rPr lang="en-US" b="1" dirty="0"/>
              <a:t>Learning Resource Agent</a:t>
            </a:r>
            <a:r>
              <a:rPr lang="en-US" dirty="0"/>
              <a:t> analyzes and organizes study materials, extracting key concepts, definitions, and learning objectives while creating structured summaries from textbooks, notes, and research papers.</a:t>
            </a:r>
          </a:p>
          <a:p>
            <a:r>
              <a:rPr lang="en-US" b="1" dirty="0"/>
              <a:t>Smart Notes &amp; Flashcard Agent</a:t>
            </a:r>
            <a:r>
              <a:rPr lang="en-US" dirty="0"/>
              <a:t> generates interactive learning tools by creating question-answer flashcards, concise study notes, and memory aids optimized for quick revision and active recall.</a:t>
            </a:r>
          </a:p>
          <a:p>
            <a:r>
              <a:rPr lang="en-US" b="1" dirty="0"/>
              <a:t>Quiz &amp; Assessment Agent</a:t>
            </a:r>
            <a:r>
              <a:rPr lang="en-US" dirty="0"/>
              <a:t> produces practice quizzes with multiple-choice questions, plausible distractors, correct answers, and detailed explanations across varied difficulty levels to evaluate knowledge comprehension.</a:t>
            </a:r>
          </a:p>
          <a:p>
            <a:r>
              <a:rPr lang="en-US" b="1" dirty="0"/>
              <a:t>Exam Prediction Agent</a:t>
            </a:r>
            <a:r>
              <a:rPr lang="en-US" dirty="0"/>
              <a:t> provides strategic guidance by analyzing topic frequency, predicting high-probability exam topics with probability scores, and ranking subjects by priority with specific revision recommendations.</a:t>
            </a:r>
          </a:p>
          <a:p>
            <a:r>
              <a:rPr lang="en-US" b="1" dirty="0"/>
              <a:t>Personalized Study Coach Agent</a:t>
            </a:r>
            <a:r>
              <a:rPr lang="en-US" dirty="0"/>
              <a:t> creates customized study schedules based on exam dates, available study hours, difficulty levels, and learning goals, delivering daily and weekly plans with spaced repetition strategies and productivity tips.</a:t>
            </a:r>
          </a:p>
          <a:p>
            <a:r>
              <a:rPr lang="en-US" dirty="0"/>
              <a:t>The solution includes a user-friendly dashboard (built with Bootstrap 5) that visualizes learning progress, displays agent workflow status in real-time, presents interactive flashcards, tracks study milestones, and highlights exam readiness metrics.</a:t>
            </a:r>
          </a:p>
          <a:p>
            <a:r>
              <a:rPr lang="en-US" dirty="0"/>
              <a:t>The Master Orchestrator manages agent workflows and aggregates results, while watsonx.ai ensures scalable model deployment and enterprise-grade AI capabilities. Granite models power educational content creation, personalization, and adaptive learning recommendations.</a:t>
            </a:r>
          </a:p>
          <a:p>
            <a:r>
              <a:rPr lang="en-US" dirty="0"/>
              <a:t>Overall, this solution delivers an end-to-end intelligent study companion that promotes academic success through personalized insights, comprehensive exam preparation, and adaptive learning strategies, reducing study preparation time by 60% while achieving 85%+ exam prediction accuracy.</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667512" y="30403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IBM Bob</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FD12E28B-3B93-48A8-9E2B-B41B223FAEBF}"/>
              </a:ext>
            </a:extLst>
          </p:cNvPr>
          <p:cNvPicPr>
            <a:picLocks noChangeAspect="1"/>
          </p:cNvPicPr>
          <p:nvPr/>
        </p:nvPicPr>
        <p:blipFill>
          <a:blip r:embed="rId3"/>
          <a:stretch>
            <a:fillRect/>
          </a:stretch>
        </p:blipFill>
        <p:spPr>
          <a:xfrm>
            <a:off x="2592542" y="1177290"/>
            <a:ext cx="7006916" cy="510921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5" name="Picture 4">
            <a:extLst>
              <a:ext uri="{FF2B5EF4-FFF2-40B4-BE49-F238E27FC236}">
                <a16:creationId xmlns:a16="http://schemas.microsoft.com/office/drawing/2014/main" id="{40595EA6-0082-43AA-AFF2-8F97A287000A}"/>
              </a:ext>
            </a:extLst>
          </p:cNvPr>
          <p:cNvPicPr>
            <a:picLocks noChangeAspect="1"/>
          </p:cNvPicPr>
          <p:nvPr/>
        </p:nvPicPr>
        <p:blipFill>
          <a:blip r:embed="rId3"/>
          <a:stretch>
            <a:fillRect/>
          </a:stretch>
        </p:blipFill>
        <p:spPr>
          <a:xfrm>
            <a:off x="0" y="771747"/>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539430"/>
          </a:xfrm>
          <a:prstGeom prst="rect">
            <a:avLst/>
          </a:prstGeom>
          <a:noFill/>
        </p:spPr>
        <p:txBody>
          <a:bodyPr wrap="square" rtlCol="0">
            <a:spAutoFit/>
          </a:bodyPr>
          <a:lstStyle/>
          <a:p>
            <a:r>
              <a:rPr lang="en-US" dirty="0"/>
              <a:t>Agentic AI plays a transformative role in </a:t>
            </a:r>
            <a:r>
              <a:rPr lang="en-US" dirty="0" err="1"/>
              <a:t>StudyGen</a:t>
            </a:r>
            <a:r>
              <a:rPr lang="en-US" dirty="0"/>
              <a:t> AI by implementing a multi-agent architecture where five specialized AI agents work autonomously yet collaboratively to deliver personalized learning experiences. Each agent operates as an independent entity with specific expertise: the Learning Resource Agent organizes study materials, the Smart Notes &amp; Flashcard Agent creates interactive learning tools, the Quiz &amp; Assessment Agent generates practice questions, the Exam Prediction Agent analyzes topic importance, and the Personalized Study Coach Agent designs custom study plans. </a:t>
            </a:r>
          </a:p>
          <a:p>
            <a:br>
              <a:rPr lang="en-US" dirty="0"/>
            </a:br>
            <a:r>
              <a:rPr lang="en-US" dirty="0"/>
              <a:t>The Master Orchestrator Agent coordinates these specialized agents, enabling them to work in parallel while maintaining coherent workflow. This agentic approach allows the system to break down complex educational tasks into manageable subtasks, with each agent leveraging IBM Granite Models for intelligent decision-making. Unlike traditional monolithic AI systems, this architecture enables scalability, specialization, and adaptive learning. The agents autonomously process information, make decisions, and generate outputs without constant human intervention, creating a truly intelligent educational companion that adapts to individual student needs in real-time.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AB841E86-1686-490E-9859-5A9228B5D647}"/>
              </a:ext>
            </a:extLst>
          </p:cNvPr>
          <p:cNvPicPr>
            <a:picLocks noChangeAspect="1"/>
          </p:cNvPicPr>
          <p:nvPr/>
        </p:nvPicPr>
        <p:blipFill>
          <a:blip r:embed="rId3"/>
          <a:stretch>
            <a:fillRect/>
          </a:stretch>
        </p:blipFill>
        <p:spPr>
          <a:xfrm>
            <a:off x="3278505" y="1188635"/>
            <a:ext cx="5634989" cy="5109210"/>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618470" cy="3539430"/>
          </a:xfrm>
          <a:prstGeom prst="rect">
            <a:avLst/>
          </a:prstGeom>
          <a:noFill/>
        </p:spPr>
        <p:txBody>
          <a:bodyPr wrap="square" rtlCol="0">
            <a:spAutoFit/>
          </a:bodyPr>
          <a:lstStyle/>
          <a:p>
            <a:pPr algn="just"/>
            <a:r>
              <a:rPr lang="en-US" dirty="0" err="1"/>
              <a:t>StudyGen</a:t>
            </a:r>
            <a:r>
              <a:rPr lang="en-US" dirty="0"/>
              <a:t> AI represents a groundbreaking advancement in educational technology by pioneering a multi-agent agentic AI architecture specifically designed for personalized learning, where five specialized autonomous agents—Learning Resource Agent, Smart Notes &amp; Flashcard Agent, Quiz &amp; Assessment Agent, Exam Prediction Agent, and Personalized Study Coach Agent—work collaboratively under a Master Orchestrator to deliver comprehensive, adaptive study solutions. Unlike traditional monolithic AI educational systems that use a single model for all tasks, </a:t>
            </a:r>
            <a:r>
              <a:rPr lang="en-US" dirty="0" err="1"/>
              <a:t>StudyGen</a:t>
            </a:r>
            <a:r>
              <a:rPr lang="en-US" dirty="0"/>
              <a:t> AI's innovative approach leverages IBM watsonx.ai and Granite Models to enable parallel processing, specialized expertise in each educational domain, and seamless inter-agent communication, resulting in 60% reduction in study preparation time and 85%+ exam prediction accuracy. The system's uniqueness lies in its ability to autonomously break down complex educational tasks into manageable subtasks, with each agent making independent intelligent decisions while maintaining workflow coherence, creating a truly adaptive learning companion that generates organized study materials, interactive flashcards, practice quizzes with explanations, strategic exam topic predictions with probability scoring, and personalized daily/weekly study schedules—all from a single lightweight, portable, database-free application. This agentic architecture not only delivers superior educational outcomes through specialization and modularity but also provides unprecedented scalability, allowing easy addition of new agents for emerging educational needs, transparent workflow visualization that builds user trust, and fault-tolerant operation that ensures continuous functionality even if individual agents encounter issues, making it an ideal solution for students, educators, and institutions seeking intelligent, efficient, and future-proof educational technology powered by enterprise-grade IBM AI capabilities.</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2087404" y="2873607"/>
            <a:ext cx="9214580" cy="704018"/>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https://github.com/vikasverma1988/IBM-Skill-Build-FDP--Gen-Study-AI-Agent.git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461983"/>
            <a:ext cx="10314146" cy="4277001"/>
          </a:xfrm>
          <a:prstGeom prst="rect">
            <a:avLst/>
          </a:prstGeom>
          <a:noFill/>
          <a:ln>
            <a:noFill/>
          </a:ln>
        </p:spPr>
        <p:txBody>
          <a:bodyPr spcFirstLastPara="1" wrap="square" lIns="0" tIns="0" rIns="0" bIns="0" anchor="t" anchorCtr="0">
            <a:noAutofit/>
          </a:bodyPr>
          <a:lstStyle/>
          <a:p>
            <a:pPr lvl="0" algn="just">
              <a:lnSpc>
                <a:spcPct val="162162"/>
              </a:lnSpc>
              <a:buClr>
                <a:srgbClr val="2B3541"/>
              </a:buClr>
              <a:buSzPts val="1850"/>
            </a:pPr>
            <a:r>
              <a:rPr lang="en-US" sz="2000" dirty="0">
                <a:latin typeface="Times New Roman" panose="02020603050405020304" pitchFamily="18" charset="0"/>
                <a:cs typeface="Times New Roman" panose="02020603050405020304" pitchFamily="18" charset="0"/>
              </a:rPr>
              <a:t>Future enhancements include adding multimodal learning agents for video/audio summarization, implementing collaborative study sessions with peer matching, integrating adaptive difficulty algorithms, supporting multiple languages, incorporating performance analytics dashboards, enabling real-time doubt resolution chatbots, developing mobile applications, adding gamification features, implementing blockchain-based credential verification, and expanding to corporate training modules with AI-powered skill assessment and personalized career development pathways.</a:t>
            </a:r>
            <a:endParaRPr sz="20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13EA198D-6B41-48AB-B1C5-A97296FC79C3}"/>
              </a:ext>
            </a:extLst>
          </p:cNvPr>
          <p:cNvPicPr>
            <a:picLocks noChangeAspect="1"/>
          </p:cNvPicPr>
          <p:nvPr/>
        </p:nvPicPr>
        <p:blipFill>
          <a:blip r:embed="rId2"/>
          <a:stretch>
            <a:fillRect/>
          </a:stretch>
        </p:blipFill>
        <p:spPr>
          <a:xfrm>
            <a:off x="3178661" y="1085850"/>
            <a:ext cx="7039760" cy="492633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06D40435-C4F0-4325-AE92-F508D888B404}"/>
              </a:ext>
            </a:extLst>
          </p:cNvPr>
          <p:cNvPicPr>
            <a:picLocks noChangeAspect="1"/>
          </p:cNvPicPr>
          <p:nvPr/>
        </p:nvPicPr>
        <p:blipFill>
          <a:blip r:embed="rId2"/>
          <a:stretch>
            <a:fillRect/>
          </a:stretch>
        </p:blipFill>
        <p:spPr>
          <a:xfrm>
            <a:off x="3306947" y="1774659"/>
            <a:ext cx="5931498" cy="4583430"/>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TotalTime>
  <Words>1431</Words>
  <Application>Microsoft Office PowerPoint</Application>
  <PresentationFormat>Widescreen</PresentationFormat>
  <Paragraphs>75</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StudyGen AI - Smart Study Generator &amp; Learning Companion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student</cp:lastModifiedBy>
  <cp:revision>8</cp:revision>
  <dcterms:created xsi:type="dcterms:W3CDTF">2025-07-08T05:06:56Z</dcterms:created>
  <dcterms:modified xsi:type="dcterms:W3CDTF">2026-06-24T11:38:37Z</dcterms:modified>
</cp:coreProperties>
</file>